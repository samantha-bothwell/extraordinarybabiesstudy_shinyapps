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2"/>
  </p:notesMasterIdLst>
  <p:sldIdLst>
    <p:sldId id="256" r:id="rId2"/>
    <p:sldId id="258" r:id="rId3"/>
    <p:sldId id="260" r:id="rId4"/>
    <p:sldId id="261" r:id="rId5"/>
    <p:sldId id="257" r:id="rId6"/>
    <p:sldId id="259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35"/>
  </p:normalViewPr>
  <p:slideViewPr>
    <p:cSldViewPr snapToGrid="0" snapToObjects="1">
      <p:cViewPr varScale="1">
        <p:scale>
          <a:sx n="150" d="100"/>
          <a:sy n="150" d="100"/>
        </p:scale>
        <p:origin x="15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C73DEC-87C2-3642-AD3B-1F56DA4E9C55}" type="datetimeFigureOut">
              <a:rPr lang="en-US" smtClean="0"/>
              <a:t>7/17/25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E2AB1-A97F-9C4C-9D0E-0909C807C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01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Kurtosis controls tail heaviness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4E2AB1-A97F-9C4C-9D0E-0909C807CE2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70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60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3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61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65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06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42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477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88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87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9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82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90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61166"/>
            <a:ext cx="7772400" cy="1735667"/>
          </a:xfrm>
        </p:spPr>
        <p:txBody>
          <a:bodyPr>
            <a:normAutofit fontScale="90000"/>
          </a:bodyPr>
          <a:lstStyle/>
          <a:p>
            <a:r>
              <a:rPr lang="en-US" dirty="0"/>
              <a:t>Making Growth Charts with GAMLSS in 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7765F76-CB88-2918-B0FD-261F16EFB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45733" y="249679"/>
            <a:ext cx="5452533" cy="6358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DFD80-BF8A-6A2F-8F05-27D68523A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Generalized Additive Models (GAMs)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54BBE-5573-9991-0A74-86B8AF9C2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Flexible Regression Framework</a:t>
            </a:r>
            <a:r>
              <a:rPr lang="en-US" dirty="0"/>
              <a:t>: Generalized Additive Models (GAMs) extend generalized linear models by allowing the inclusion of smooth, non-linear functions (splines) of predictors instead of forcing linear relationships.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Additive Structure</a:t>
            </a:r>
            <a:r>
              <a:rPr lang="en-US" dirty="0"/>
              <a:t>: The model assumes the outcome depends on the sum of smooth functions of predictors, e.g.,</a:t>
            </a:r>
          </a:p>
          <a:p>
            <a:pPr marL="0" indent="0" algn="ctr">
              <a:buNone/>
            </a:pPr>
            <a:r>
              <a:rPr lang="en-US" dirty="0"/>
              <a:t>g(E[Y])=</a:t>
            </a:r>
            <a:r>
              <a:rPr lang="el-GR" dirty="0"/>
              <a:t>β</a:t>
            </a:r>
            <a:r>
              <a:rPr lang="el-GR" baseline="-25000" dirty="0"/>
              <a:t>0</a:t>
            </a:r>
            <a:r>
              <a:rPr lang="el-GR" dirty="0"/>
              <a:t>+</a:t>
            </a:r>
            <a:r>
              <a:rPr lang="en-US" i="1" dirty="0"/>
              <a:t>f</a:t>
            </a:r>
            <a:r>
              <a:rPr lang="en-US" baseline="-25000" dirty="0"/>
              <a:t>1</a:t>
            </a:r>
            <a:r>
              <a:rPr lang="en-US" dirty="0"/>
              <a:t>(x</a:t>
            </a:r>
            <a:r>
              <a:rPr lang="en-US" baseline="-25000" dirty="0"/>
              <a:t>1</a:t>
            </a:r>
            <a:r>
              <a:rPr lang="en-US" dirty="0"/>
              <a:t>)+</a:t>
            </a:r>
            <a:r>
              <a:rPr lang="en-US" i="1" dirty="0"/>
              <a:t>f</a:t>
            </a:r>
            <a:r>
              <a:rPr lang="en-US" baseline="-25000" dirty="0"/>
              <a:t>2</a:t>
            </a:r>
            <a:r>
              <a:rPr lang="en-US" dirty="0"/>
              <a:t>(x</a:t>
            </a:r>
            <a:r>
              <a:rPr lang="en-US" baseline="-25000" dirty="0"/>
              <a:t>2</a:t>
            </a:r>
            <a:r>
              <a:rPr lang="en-US" dirty="0"/>
              <a:t>)+</a:t>
            </a:r>
            <a:r>
              <a:rPr lang="en-US" baseline="-25000" dirty="0"/>
              <a:t>⋯</a:t>
            </a:r>
            <a:r>
              <a:rPr lang="en-US" dirty="0"/>
              <a:t>+</a:t>
            </a:r>
            <a:r>
              <a:rPr lang="en-US" i="1" dirty="0" err="1"/>
              <a:t>f</a:t>
            </a:r>
            <a:r>
              <a:rPr lang="en-US" baseline="-25000" dirty="0" err="1"/>
              <a:t>k</a:t>
            </a:r>
            <a:r>
              <a:rPr lang="en-US" dirty="0"/>
              <a:t>(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where g is a link function and </a:t>
            </a:r>
            <a:r>
              <a:rPr lang="en-US" i="1" dirty="0"/>
              <a:t>f</a:t>
            </a:r>
            <a:r>
              <a:rPr lang="en-US" baseline="-25000" dirty="0"/>
              <a:t>i</a:t>
            </a:r>
            <a:r>
              <a:rPr lang="en-US" dirty="0"/>
              <a:t> are smooth functions estimated from data.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Key Advantage</a:t>
            </a:r>
            <a:r>
              <a:rPr lang="en-US" dirty="0"/>
              <a:t>: GAMs capture complex, non-linear relationships without requiring explicit parametric forms, improving model flexibility and interpretability compared to purely linear models.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197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602E5-49A2-C96A-FC1D-3329F1B2A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D15F6-B6AE-D104-A0EA-15AEFBBC0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GAMLSS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35CB6-5510-0D7B-ED2C-19240D2FA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4450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Beyond Mean Modeling</a:t>
            </a:r>
            <a:r>
              <a:rPr lang="en-US" dirty="0"/>
              <a:t>: </a:t>
            </a:r>
            <a:r>
              <a:rPr lang="en-US" i="1" dirty="0"/>
              <a:t>Generalized Additive Models for Location, Scale, and Shape (GAMLSS)</a:t>
            </a:r>
            <a:r>
              <a:rPr lang="en-US" dirty="0"/>
              <a:t> extend GAMs by allowing not just the </a:t>
            </a:r>
            <a:r>
              <a:rPr lang="en-US" b="1" dirty="0"/>
              <a:t>mean</a:t>
            </a:r>
            <a:r>
              <a:rPr lang="en-US" dirty="0"/>
              <a:t> of the distribution, but also other parameters (e.g., variance, skewness, kurtosis) to depend on predictors through smooth or linear functions.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Distributional Flexibility</a:t>
            </a:r>
            <a:r>
              <a:rPr lang="en-US" dirty="0"/>
              <a:t>: GAMLSS supports a wide range of parametric distributions (normal, skewed, heavy-tailed, zero-inflated, etc.), enabling fairly accurate modeling of data that depart from normality. </a:t>
            </a:r>
            <a:r>
              <a:rPr lang="en-US" i="1" dirty="0"/>
              <a:t>(Note : If your data are non-normally distributed, it is worth exploring quantile regression as an alternative to GAMLSS)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Additive Structure for Multiple Parameters</a:t>
            </a:r>
            <a:r>
              <a:rPr lang="en-US" dirty="0"/>
              <a:t>: Each distribution parameter (e.g., </a:t>
            </a:r>
            <a:r>
              <a:rPr lang="el-GR" dirty="0" err="1"/>
              <a:t>μ,σ,ν,τ</a:t>
            </a:r>
            <a:r>
              <a:rPr lang="el-GR" dirty="0"/>
              <a:t>) </a:t>
            </a:r>
            <a:r>
              <a:rPr lang="en-US" dirty="0"/>
              <a:t>can have its own additive predictor:</a:t>
            </a:r>
          </a:p>
          <a:p>
            <a:pPr marL="0" indent="0" algn="ctr">
              <a:buNone/>
            </a:pPr>
            <a:r>
              <a:rPr lang="en-US" dirty="0"/>
              <a:t>g</a:t>
            </a:r>
            <a:r>
              <a:rPr lang="en-US" baseline="-25000" dirty="0"/>
              <a:t>1</a:t>
            </a:r>
            <a:r>
              <a:rPr lang="en-US" dirty="0"/>
              <a:t>(</a:t>
            </a:r>
            <a:r>
              <a:rPr lang="el-GR" dirty="0"/>
              <a:t>μ)=η</a:t>
            </a:r>
            <a:r>
              <a:rPr lang="el-GR" baseline="-25000" dirty="0"/>
              <a:t>1</a:t>
            </a:r>
            <a:r>
              <a:rPr lang="el-GR" dirty="0"/>
              <a:t>=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l-GR" dirty="0"/>
              <a:t>β</a:t>
            </a:r>
            <a:r>
              <a:rPr lang="el-GR" baseline="-25000" dirty="0"/>
              <a:t>1</a:t>
            </a:r>
            <a:r>
              <a:rPr lang="el-GR" dirty="0"/>
              <a:t>+</a:t>
            </a:r>
            <a:r>
              <a:rPr lang="en-US" dirty="0"/>
              <a:t>f</a:t>
            </a:r>
            <a:r>
              <a:rPr lang="en-US" baseline="-25000" dirty="0"/>
              <a:t>1</a:t>
            </a:r>
            <a:r>
              <a:rPr lang="en-US" dirty="0"/>
              <a:t>(x), </a:t>
            </a:r>
          </a:p>
          <a:p>
            <a:pPr marL="0" indent="0" algn="ctr">
              <a:buNone/>
            </a:pPr>
            <a:r>
              <a:rPr lang="en-US" dirty="0"/>
              <a:t>g</a:t>
            </a:r>
            <a:r>
              <a:rPr lang="en-US" baseline="-25000" dirty="0"/>
              <a:t>2</a:t>
            </a:r>
            <a:r>
              <a:rPr lang="en-US" dirty="0"/>
              <a:t>​(</a:t>
            </a:r>
            <a:r>
              <a:rPr lang="el-GR" dirty="0"/>
              <a:t>σ)​=η</a:t>
            </a:r>
            <a:r>
              <a:rPr lang="el-GR" baseline="-25000" dirty="0"/>
              <a:t>2</a:t>
            </a:r>
            <a:r>
              <a:rPr lang="el-GR" dirty="0"/>
              <a:t>​=</a:t>
            </a: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​</a:t>
            </a:r>
            <a:r>
              <a:rPr lang="el-GR" dirty="0"/>
              <a:t>β</a:t>
            </a:r>
            <a:r>
              <a:rPr lang="el-GR" baseline="-25000" dirty="0"/>
              <a:t>2</a:t>
            </a:r>
            <a:r>
              <a:rPr lang="el-GR" dirty="0"/>
              <a:t>​+</a:t>
            </a:r>
            <a:r>
              <a:rPr lang="en-US" dirty="0"/>
              <a:t>f</a:t>
            </a:r>
            <a:r>
              <a:rPr lang="en-US" baseline="-25000" dirty="0"/>
              <a:t>2</a:t>
            </a:r>
            <a:r>
              <a:rPr lang="en-US" dirty="0"/>
              <a:t>​(x), etc.​ </a:t>
            </a:r>
          </a:p>
          <a:p>
            <a:pPr marL="0" indent="0">
              <a:buNone/>
            </a:pPr>
            <a:r>
              <a:rPr lang="en-US" dirty="0"/>
              <a:t>giving rich flexibility for modeling heteroscedasticity and shape changes.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312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Are Growth Charts?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  <a:r>
              <a:rPr lang="en-US" dirty="0"/>
              <a:t>: Growth charts are statistical tools that show how measurements such as height, weight, or BMI vary across ages in a population. They are commonly presented as </a:t>
            </a:r>
            <a:r>
              <a:rPr lang="en-US" b="1" dirty="0"/>
              <a:t>percentile curves</a:t>
            </a:r>
            <a:r>
              <a:rPr lang="en-US" dirty="0"/>
              <a:t> (e.g., 5th, 50th, 95th) to illustrate typical growth patterns and variability.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Purpose</a:t>
            </a:r>
            <a:r>
              <a:rPr lang="en-US" dirty="0"/>
              <a:t>: They help clinicians, researchers, and parents compare an individual child’s growth to a reference population, detect deviations from expected trajectories, and monitor health or nutritional status.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Construction</a:t>
            </a:r>
            <a:r>
              <a:rPr lang="en-US" dirty="0"/>
              <a:t>: Growth charts are built using large datasets and statistical smoothing techniques (e.g., </a:t>
            </a:r>
            <a:r>
              <a:rPr lang="en-US" b="1" dirty="0"/>
              <a:t>GAMLSS</a:t>
            </a:r>
            <a:r>
              <a:rPr lang="en-US" dirty="0"/>
              <a:t>, LMS method) to estimate continuous centile curves across age while accounting for distributional changes in variability and skewness.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GAMLSS Example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2C250-58FB-BC05-3B27-F86001739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570" y="1367147"/>
            <a:ext cx="5640860" cy="5397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7DCC33-D428-8630-A865-4AAA93A83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571" y="1367146"/>
            <a:ext cx="5640859" cy="53977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3FDB-ADEB-7DE2-3FF9-79319A1AD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in 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BF7417-722F-7DC0-473E-682D350188F7}"/>
              </a:ext>
            </a:extLst>
          </p:cNvPr>
          <p:cNvSpPr txBox="1"/>
          <p:nvPr/>
        </p:nvSpPr>
        <p:spPr>
          <a:xfrm>
            <a:off x="628649" y="1660782"/>
            <a:ext cx="639868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library(</a:t>
            </a:r>
            <a:r>
              <a:rPr lang="en-US" sz="2800" dirty="0" err="1"/>
              <a:t>gamlss</a:t>
            </a:r>
            <a:r>
              <a:rPr lang="en-US" sz="2800" dirty="0"/>
              <a:t>)</a:t>
            </a:r>
          </a:p>
          <a:p>
            <a:endParaRPr lang="en-US" sz="2800" dirty="0"/>
          </a:p>
          <a:p>
            <a:r>
              <a:rPr lang="en-US" sz="2800" dirty="0" err="1"/>
              <a:t>mform_dt_hgt</a:t>
            </a:r>
            <a:r>
              <a:rPr lang="en-US" sz="2800" dirty="0"/>
              <a:t> &lt;- </a:t>
            </a:r>
            <a:r>
              <a:rPr lang="en-US" sz="2800" dirty="0" err="1"/>
              <a:t>gamlss</a:t>
            </a:r>
            <a:r>
              <a:rPr lang="en-US" sz="2800" dirty="0"/>
              <a:t>(</a:t>
            </a:r>
          </a:p>
          <a:p>
            <a:r>
              <a:rPr lang="en-US" sz="2800" dirty="0"/>
              <a:t>  formula = height ~ pb(age, lambda = 5),</a:t>
            </a:r>
          </a:p>
          <a:p>
            <a:r>
              <a:rPr lang="en-US" sz="2800" dirty="0"/>
              <a:t>  </a:t>
            </a:r>
            <a:r>
              <a:rPr lang="en-US" sz="2800" dirty="0" err="1"/>
              <a:t>sigma.formula</a:t>
            </a:r>
            <a:r>
              <a:rPr lang="en-US" sz="2800" dirty="0"/>
              <a:t> = ~ pb(age),</a:t>
            </a:r>
          </a:p>
          <a:p>
            <a:r>
              <a:rPr lang="en-US" sz="2800" dirty="0"/>
              <a:t>  </a:t>
            </a:r>
            <a:r>
              <a:rPr lang="en-US" sz="2800" dirty="0" err="1"/>
              <a:t>nu.formula</a:t>
            </a:r>
            <a:r>
              <a:rPr lang="en-US" sz="2800" dirty="0"/>
              <a:t> = ~1,</a:t>
            </a:r>
          </a:p>
          <a:p>
            <a:r>
              <a:rPr lang="en-US" sz="2800" dirty="0"/>
              <a:t>  </a:t>
            </a:r>
            <a:r>
              <a:rPr lang="en-US" sz="2800" dirty="0" err="1"/>
              <a:t>tau.formula</a:t>
            </a:r>
            <a:r>
              <a:rPr lang="en-US" sz="2800" dirty="0"/>
              <a:t> = ~1,</a:t>
            </a:r>
          </a:p>
          <a:p>
            <a:r>
              <a:rPr lang="en-US" sz="2800" dirty="0"/>
              <a:t>  data = </a:t>
            </a:r>
            <a:r>
              <a:rPr lang="en-US" sz="2800" dirty="0" err="1"/>
              <a:t>all_hgt</a:t>
            </a:r>
            <a:r>
              <a:rPr lang="en-US" sz="2800" dirty="0"/>
              <a:t>,</a:t>
            </a:r>
          </a:p>
          <a:p>
            <a:r>
              <a:rPr lang="en-US" sz="2800" dirty="0"/>
              <a:t>  family = BCCG() </a:t>
            </a:r>
          </a:p>
          <a:p>
            <a:r>
              <a:rPr lang="en-US" sz="28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879762-100C-BFF5-67C8-E8F663045B2E}"/>
              </a:ext>
            </a:extLst>
          </p:cNvPr>
          <p:cNvSpPr txBox="1"/>
          <p:nvPr/>
        </p:nvSpPr>
        <p:spPr>
          <a:xfrm>
            <a:off x="5120215" y="1434170"/>
            <a:ext cx="2523067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pb : </a:t>
            </a:r>
            <a:r>
              <a:rPr lang="en-US" sz="1400" b="1" dirty="0">
                <a:solidFill>
                  <a:srgbClr val="C00000"/>
                </a:solidFill>
              </a:rPr>
              <a:t>penalized B-spline smoothing function</a:t>
            </a:r>
            <a:r>
              <a:rPr lang="en-US" sz="1400" dirty="0">
                <a:solidFill>
                  <a:srgbClr val="C00000"/>
                </a:solidFill>
              </a:rPr>
              <a:t> of age with smoothing parameter </a:t>
            </a:r>
            <a:r>
              <a:rPr lang="el-GR" sz="1400" dirty="0">
                <a:solidFill>
                  <a:srgbClr val="C00000"/>
                </a:solidFill>
              </a:rPr>
              <a:t>λ=5. </a:t>
            </a:r>
            <a:endParaRPr lang="en-US" sz="1400" dirty="0">
              <a:solidFill>
                <a:srgbClr val="C00000"/>
              </a:solidFill>
            </a:endParaRPr>
          </a:p>
          <a:p>
            <a:endParaRPr lang="en-US" sz="1400" dirty="0">
              <a:solidFill>
                <a:srgbClr val="C00000"/>
              </a:solidFill>
            </a:endParaRPr>
          </a:p>
          <a:p>
            <a:r>
              <a:rPr lang="en-US" sz="1400" dirty="0">
                <a:solidFill>
                  <a:srgbClr val="C00000"/>
                </a:solidFill>
              </a:rPr>
              <a:t>This models a non-linear relationship between age and height.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51967E-4EC3-EA55-2849-42A8BEA25519}"/>
              </a:ext>
            </a:extLst>
          </p:cNvPr>
          <p:cNvSpPr txBox="1"/>
          <p:nvPr/>
        </p:nvSpPr>
        <p:spPr>
          <a:xfrm>
            <a:off x="5120217" y="3530071"/>
            <a:ext cx="3126316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Specifies a separate model for the </a:t>
            </a:r>
            <a:r>
              <a:rPr lang="en-US" sz="1400" b="1" dirty="0">
                <a:solidFill>
                  <a:srgbClr val="C00000"/>
                </a:solidFill>
              </a:rPr>
              <a:t>scale parameter</a:t>
            </a:r>
            <a:r>
              <a:rPr lang="en-US" sz="1400" dirty="0">
                <a:solidFill>
                  <a:srgbClr val="C00000"/>
                </a:solidFill>
              </a:rPr>
              <a:t> (</a:t>
            </a:r>
            <a:r>
              <a:rPr lang="el-GR" sz="1400" dirty="0">
                <a:solidFill>
                  <a:srgbClr val="C00000"/>
                </a:solidFill>
              </a:rPr>
              <a:t>σ, </a:t>
            </a:r>
            <a:r>
              <a:rPr lang="en-US" sz="1400" dirty="0">
                <a:solidFill>
                  <a:srgbClr val="C00000"/>
                </a:solidFill>
              </a:rPr>
              <a:t>usually variance) as a function of age using a penalized spline.</a:t>
            </a:r>
          </a:p>
          <a:p>
            <a:endParaRPr lang="en-US" sz="1400" dirty="0">
              <a:solidFill>
                <a:srgbClr val="C00000"/>
              </a:solidFill>
            </a:endParaRPr>
          </a:p>
          <a:p>
            <a:r>
              <a:rPr lang="en-US" sz="1400" dirty="0">
                <a:solidFill>
                  <a:srgbClr val="C00000"/>
                </a:solidFill>
              </a:rPr>
              <a:t>This means the variability of height can change smoothly with age (heteroscedasticity).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37F196-02ED-4CDE-BA3F-2E55DE8CE493}"/>
              </a:ext>
            </a:extLst>
          </p:cNvPr>
          <p:cNvCxnSpPr/>
          <p:nvPr/>
        </p:nvCxnSpPr>
        <p:spPr>
          <a:xfrm flipH="1">
            <a:off x="4250267" y="2616200"/>
            <a:ext cx="869949" cy="457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D3F54D-CAAD-9FEB-5732-2AAFE319D281}"/>
              </a:ext>
            </a:extLst>
          </p:cNvPr>
          <p:cNvCxnSpPr>
            <a:cxnSpLocks/>
          </p:cNvCxnSpPr>
          <p:nvPr/>
        </p:nvCxnSpPr>
        <p:spPr>
          <a:xfrm flipH="1" flipV="1">
            <a:off x="4385733" y="3837022"/>
            <a:ext cx="734482" cy="3855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2E2D7A7-D5B9-82CA-3859-EE658192E121}"/>
              </a:ext>
            </a:extLst>
          </p:cNvPr>
          <p:cNvSpPr txBox="1"/>
          <p:nvPr/>
        </p:nvSpPr>
        <p:spPr>
          <a:xfrm>
            <a:off x="3239556" y="3895564"/>
            <a:ext cx="93344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Skewness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4CD93E-3CEA-4080-0BBB-86ED97876911}"/>
              </a:ext>
            </a:extLst>
          </p:cNvPr>
          <p:cNvSpPr txBox="1"/>
          <p:nvPr/>
        </p:nvSpPr>
        <p:spPr>
          <a:xfrm>
            <a:off x="3361266" y="4282000"/>
            <a:ext cx="81174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Kurtosis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8E92C1-3D8C-2620-1DE2-9B2AF74332D1}"/>
              </a:ext>
            </a:extLst>
          </p:cNvPr>
          <p:cNvSpPr txBox="1"/>
          <p:nvPr/>
        </p:nvSpPr>
        <p:spPr>
          <a:xfrm>
            <a:off x="3310466" y="5171994"/>
            <a:ext cx="2523067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Specifies the </a:t>
            </a:r>
            <a:r>
              <a:rPr lang="en-US" sz="1400" b="1" dirty="0">
                <a:solidFill>
                  <a:srgbClr val="C00000"/>
                </a:solidFill>
              </a:rPr>
              <a:t>distribution</a:t>
            </a:r>
            <a:r>
              <a:rPr lang="en-US" sz="1400" dirty="0">
                <a:solidFill>
                  <a:srgbClr val="C00000"/>
                </a:solidFill>
              </a:rPr>
              <a:t> for the response variable (height).</a:t>
            </a:r>
          </a:p>
          <a:p>
            <a:endParaRPr lang="en-US" sz="1400" b="1" dirty="0">
              <a:solidFill>
                <a:srgbClr val="C00000"/>
              </a:solidFill>
            </a:endParaRPr>
          </a:p>
          <a:p>
            <a:r>
              <a:rPr lang="en-US" sz="1400" b="1" dirty="0">
                <a:solidFill>
                  <a:srgbClr val="C00000"/>
                </a:solidFill>
              </a:rPr>
              <a:t>BCCG</a:t>
            </a:r>
            <a:r>
              <a:rPr lang="en-US" sz="1400" dirty="0">
                <a:solidFill>
                  <a:srgbClr val="C00000"/>
                </a:solidFill>
              </a:rPr>
              <a:t> = Box-Cox Cole and Green distribution, often used for growth data.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0F33415-F98A-4632-3146-E05F2766F2E1}"/>
              </a:ext>
            </a:extLst>
          </p:cNvPr>
          <p:cNvCxnSpPr>
            <a:cxnSpLocks/>
          </p:cNvCxnSpPr>
          <p:nvPr/>
        </p:nvCxnSpPr>
        <p:spPr>
          <a:xfrm flipH="1" flipV="1">
            <a:off x="2575983" y="5498997"/>
            <a:ext cx="734482" cy="3855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71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F31A-5645-8A3F-00CE-47B39029F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Centiles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1C5AD7-964E-4293-AA4D-11A4728415B9}"/>
              </a:ext>
            </a:extLst>
          </p:cNvPr>
          <p:cNvSpPr txBox="1"/>
          <p:nvPr/>
        </p:nvSpPr>
        <p:spPr>
          <a:xfrm>
            <a:off x="628649" y="1494515"/>
            <a:ext cx="788669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# 1. Prediction ages</a:t>
            </a:r>
          </a:p>
          <a:p>
            <a:r>
              <a:rPr lang="en-US" dirty="0"/>
              <a:t>ages &lt;- seq(2, 18, by = 0.5)</a:t>
            </a:r>
          </a:p>
          <a:p>
            <a:endParaRPr lang="en-US" dirty="0"/>
          </a:p>
          <a:p>
            <a:r>
              <a:rPr lang="en-US" b="1" dirty="0"/>
              <a:t># 2. Build </a:t>
            </a:r>
            <a:r>
              <a:rPr lang="en-US" b="1" dirty="0" err="1"/>
              <a:t>newdata</a:t>
            </a:r>
            <a:r>
              <a:rPr lang="en-US" b="1" dirty="0"/>
              <a:t> with all required covariates used in the model</a:t>
            </a:r>
          </a:p>
          <a:p>
            <a:r>
              <a:rPr lang="en-US" dirty="0" err="1"/>
              <a:t>newdata</a:t>
            </a:r>
            <a:r>
              <a:rPr lang="en-US" dirty="0"/>
              <a:t> &lt;- </a:t>
            </a:r>
            <a:r>
              <a:rPr lang="en-US" dirty="0" err="1"/>
              <a:t>data.frame</a:t>
            </a:r>
            <a:r>
              <a:rPr lang="en-US" dirty="0"/>
              <a:t>(age = ages)</a:t>
            </a:r>
          </a:p>
          <a:p>
            <a:endParaRPr lang="en-US" dirty="0"/>
          </a:p>
          <a:p>
            <a:r>
              <a:rPr lang="en-US" b="1" dirty="0"/>
              <a:t># 3. Get predicted distribution parameters from the model</a:t>
            </a:r>
          </a:p>
          <a:p>
            <a:r>
              <a:rPr lang="en-US" dirty="0"/>
              <a:t>params &lt;- </a:t>
            </a:r>
            <a:r>
              <a:rPr lang="en-US" dirty="0" err="1"/>
              <a:t>predictAll</a:t>
            </a:r>
            <a:r>
              <a:rPr lang="en-US" dirty="0"/>
              <a:t>(</a:t>
            </a:r>
            <a:r>
              <a:rPr lang="en-US" dirty="0" err="1"/>
              <a:t>mform_dt_hgt</a:t>
            </a:r>
            <a:r>
              <a:rPr lang="en-US" dirty="0"/>
              <a:t>, </a:t>
            </a:r>
            <a:r>
              <a:rPr lang="en-US" dirty="0" err="1"/>
              <a:t>newdata</a:t>
            </a:r>
            <a:r>
              <a:rPr lang="en-US" dirty="0"/>
              <a:t> = </a:t>
            </a:r>
            <a:r>
              <a:rPr lang="en-US" dirty="0" err="1"/>
              <a:t>newdata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b="1" dirty="0"/>
              <a:t># 4. Calculate centiles manually using the BCCG distribution quantile function</a:t>
            </a:r>
          </a:p>
          <a:p>
            <a:r>
              <a:rPr lang="en-US" dirty="0"/>
              <a:t>centiles &lt;- c(5, 10, 25, 50, 75, 90, 95)</a:t>
            </a:r>
          </a:p>
          <a:p>
            <a:r>
              <a:rPr lang="en-US" dirty="0" err="1"/>
              <a:t>q_vals</a:t>
            </a:r>
            <a:r>
              <a:rPr lang="en-US" dirty="0"/>
              <a:t> &lt;- </a:t>
            </a:r>
            <a:r>
              <a:rPr lang="en-US" dirty="0" err="1"/>
              <a:t>sapply</a:t>
            </a:r>
            <a:r>
              <a:rPr lang="en-US" dirty="0"/>
              <a:t>(centiles / 100, function(p) {</a:t>
            </a:r>
          </a:p>
          <a:p>
            <a:r>
              <a:rPr lang="en-US" dirty="0"/>
              <a:t>  </a:t>
            </a:r>
            <a:r>
              <a:rPr lang="en-US" dirty="0" err="1"/>
              <a:t>qBCCG</a:t>
            </a:r>
            <a:r>
              <a:rPr lang="en-US" dirty="0"/>
              <a:t>(p, mu = </a:t>
            </a:r>
            <a:r>
              <a:rPr lang="en-US" dirty="0" err="1"/>
              <a:t>params$mu</a:t>
            </a:r>
            <a:r>
              <a:rPr lang="en-US" dirty="0"/>
              <a:t>, sigma = </a:t>
            </a:r>
            <a:r>
              <a:rPr lang="en-US" dirty="0" err="1"/>
              <a:t>params$sigma</a:t>
            </a:r>
            <a:r>
              <a:rPr lang="en-US" dirty="0"/>
              <a:t>, nu = </a:t>
            </a:r>
            <a:r>
              <a:rPr lang="en-US" dirty="0" err="1"/>
              <a:t>params$nu</a:t>
            </a:r>
            <a:r>
              <a:rPr lang="en-US" dirty="0"/>
              <a:t>)</a:t>
            </a:r>
          </a:p>
          <a:p>
            <a:r>
              <a:rPr lang="en-US" dirty="0"/>
              <a:t>})</a:t>
            </a:r>
          </a:p>
          <a:p>
            <a:endParaRPr lang="en-US" dirty="0"/>
          </a:p>
          <a:p>
            <a:r>
              <a:rPr lang="en-US" b="1" dirty="0"/>
              <a:t># 5. Create a </a:t>
            </a:r>
            <a:r>
              <a:rPr lang="en-US" b="1" dirty="0" err="1"/>
              <a:t>dataframe</a:t>
            </a:r>
            <a:r>
              <a:rPr lang="en-US" b="1" dirty="0"/>
              <a:t> of predicted centiles</a:t>
            </a:r>
          </a:p>
          <a:p>
            <a:r>
              <a:rPr lang="en-US" dirty="0" err="1"/>
              <a:t>lms_hgt</a:t>
            </a:r>
            <a:r>
              <a:rPr lang="en-US" dirty="0"/>
              <a:t> &lt;- </a:t>
            </a:r>
            <a:r>
              <a:rPr lang="en-US" dirty="0" err="1"/>
              <a:t>data.frame</a:t>
            </a:r>
            <a:r>
              <a:rPr lang="en-US" dirty="0"/>
              <a:t>(age = ages, </a:t>
            </a:r>
            <a:r>
              <a:rPr lang="en-US" dirty="0" err="1"/>
              <a:t>q_vals</a:t>
            </a:r>
            <a:r>
              <a:rPr lang="en-US" dirty="0"/>
              <a:t>)</a:t>
            </a:r>
          </a:p>
          <a:p>
            <a:r>
              <a:rPr lang="en-US" dirty="0" err="1"/>
              <a:t>colnames</a:t>
            </a:r>
            <a:r>
              <a:rPr lang="en-US" dirty="0"/>
              <a:t>(</a:t>
            </a:r>
            <a:r>
              <a:rPr lang="en-US" dirty="0" err="1"/>
              <a:t>lms_hgt</a:t>
            </a:r>
            <a:r>
              <a:rPr lang="en-US" dirty="0"/>
              <a:t>)[-1] &lt;- paste0("P", centiles)</a:t>
            </a:r>
          </a:p>
        </p:txBody>
      </p:sp>
    </p:spTree>
    <p:extLst>
      <p:ext uri="{BB962C8B-B14F-4D97-AF65-F5344CB8AC3E}">
        <p14:creationId xmlns:p14="http://schemas.microsoft.com/office/powerpoint/2010/main" val="2821504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2145-8334-4691-C2FE-37147DF8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Resulting </a:t>
            </a:r>
            <a:r>
              <a:rPr lang="en-US" dirty="0" err="1"/>
              <a:t>DataFrame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494781-AA4C-DFEA-EEB6-4E4A0A44B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459" y="1451339"/>
            <a:ext cx="6665081" cy="504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87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9BE73-EC07-BADD-EA54-D41E807D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30BD49-4C75-22BC-7B43-5C3E96CA8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85" y="1281946"/>
            <a:ext cx="5838829" cy="546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53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731</TotalTime>
  <Words>786</Words>
  <Application>Microsoft Macintosh PowerPoint</Application>
  <PresentationFormat>On-screen Show (4:3)</PresentationFormat>
  <Paragraphs>70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Office 2013 - 2022 Theme</vt:lpstr>
      <vt:lpstr>Making Growth Charts with GAMLSS in R</vt:lpstr>
      <vt:lpstr>PowerPoint Presentation</vt:lpstr>
      <vt:lpstr>What are Generalized Additive Models (GAMs)</vt:lpstr>
      <vt:lpstr>What is GAMLSS</vt:lpstr>
      <vt:lpstr>What Are Growth Charts?</vt:lpstr>
      <vt:lpstr>GAMLSS Example</vt:lpstr>
      <vt:lpstr>Implementation in R</vt:lpstr>
      <vt:lpstr>Extracting Centiles</vt:lpstr>
      <vt:lpstr>Resulting DataFrame</vt:lpstr>
      <vt:lpstr>Plot 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Bothwell, Samantha</cp:lastModifiedBy>
  <cp:revision>2</cp:revision>
  <dcterms:created xsi:type="dcterms:W3CDTF">2013-01-27T09:14:16Z</dcterms:created>
  <dcterms:modified xsi:type="dcterms:W3CDTF">2025-07-17T15:29:29Z</dcterms:modified>
  <cp:category/>
</cp:coreProperties>
</file>